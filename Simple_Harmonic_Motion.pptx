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54864" cy="2743200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1097280" y="1280160"/>
            <a:ext cx="685800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SIMPLE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HARMONIC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MOTION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Mass-Spring Systems  •  Simple Pendulum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42976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LECTURE</a:t>
            </a:r>
            <a:endParaRPr lang="en-US" sz="1100" dirty="0"/>
          </a:p>
        </p:txBody>
      </p:sp>
      <p:sp>
        <p:nvSpPr>
          <p:cNvPr id="6" name="文本框 5"/>
          <p:cNvSpPr txBox="1"/>
          <p:nvPr/>
        </p:nvSpPr>
        <p:spPr>
          <a:xfrm>
            <a:off x="6334125" y="4255135"/>
            <a:ext cx="2299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Academy Engraved LET" panose="02000000000000000000" charset="0"/>
                <a:cs typeface="Academy Engraved LET" panose="02000000000000000000" charset="0"/>
              </a:rPr>
              <a:t>Chris&amp;Tartaglia</a:t>
            </a:r>
            <a:endParaRPr lang="en-US" altLang="zh-CN">
              <a:solidFill>
                <a:schemeClr val="bg1"/>
              </a:solidFill>
              <a:latin typeface="Academy Engraved LET" panose="02000000000000000000" charset="0"/>
              <a:cs typeface="Academy Engraved LET" panose="0200000000000000000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What is Simple Harmonic Motion?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13716"/>
          </a:xfrm>
          <a:prstGeom prst="rect">
            <a:avLst/>
          </a:prstGeom>
          <a:solidFill>
            <a:srgbClr val="C8CDD0"/>
          </a:solidFill>
        </p:spPr>
      </p:sp>
      <p:sp>
        <p:nvSpPr>
          <p:cNvPr id="5" name="Shape 3"/>
          <p:cNvSpPr/>
          <p:nvPr/>
        </p:nvSpPr>
        <p:spPr>
          <a:xfrm>
            <a:off x="640080" y="1143000"/>
            <a:ext cx="7863840" cy="1234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234440"/>
            <a:ext cx="7498080" cy="1051560"/>
          </a:xfrm>
          <a:prstGeom prst="rect">
            <a:avLst/>
          </a:prstGeom>
          <a:noFill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Definition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Harmonic Motion (SHM) is a periodic oscillatory motion where the </a:t>
            </a: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force</a:t>
            </a:r>
            <a:r>
              <a:rPr lang="en-US" sz="14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directly proportional to the displacement from equilibrium and always acts in the </a:t>
            </a: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direction</a:t>
            </a:r>
            <a:r>
              <a:rPr lang="en-US" sz="14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2606040"/>
            <a:ext cx="4572000" cy="640080"/>
          </a:xfrm>
          <a:prstGeom prst="rect">
            <a:avLst/>
          </a:prstGeom>
          <a:solidFill>
            <a:srgbClr val="0D1F33"/>
          </a:solidFill>
        </p:spPr>
      </p:sp>
      <p:sp>
        <p:nvSpPr>
          <p:cNvPr id="8" name="Text 6"/>
          <p:cNvSpPr/>
          <p:nvPr/>
        </p:nvSpPr>
        <p:spPr>
          <a:xfrm>
            <a:off x="2286000" y="260604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 = −k x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2468880" cy="13258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611880"/>
            <a:ext cx="164592" cy="164592"/>
          </a:xfrm>
          <a:prstGeom prst="ellipse">
            <a:avLst/>
          </a:prstGeom>
          <a:solidFill>
            <a:srgbClr val="D4A84B"/>
          </a:solidFill>
        </p:spPr>
      </p:sp>
      <p:sp>
        <p:nvSpPr>
          <p:cNvPr id="11" name="Text 9"/>
          <p:cNvSpPr/>
          <p:nvPr/>
        </p:nvSpPr>
        <p:spPr>
          <a:xfrm>
            <a:off x="1097280" y="35844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Force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directed toward equilibrium position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3474720"/>
            <a:ext cx="2468880" cy="13258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3611880"/>
            <a:ext cx="164592" cy="164592"/>
          </a:xfrm>
          <a:prstGeom prst="ellipse">
            <a:avLst/>
          </a:prstGeom>
          <a:solidFill>
            <a:srgbClr val="D4A84B"/>
          </a:solidFill>
        </p:spPr>
      </p:sp>
      <p:sp>
        <p:nvSpPr>
          <p:cNvPr id="15" name="Text 13"/>
          <p:cNvSpPr/>
          <p:nvPr/>
        </p:nvSpPr>
        <p:spPr>
          <a:xfrm>
            <a:off x="3840480" y="35844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Proportionality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402336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∝ x (force proportional to displacement)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474720"/>
            <a:ext cx="2468880" cy="13258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611880"/>
            <a:ext cx="164592" cy="164592"/>
          </a:xfrm>
          <a:prstGeom prst="ellipse">
            <a:avLst/>
          </a:prstGeom>
          <a:solidFill>
            <a:srgbClr val="D4A84B"/>
          </a:solidFill>
        </p:spPr>
      </p:sp>
      <p:sp>
        <p:nvSpPr>
          <p:cNvPr id="19" name="Text 17"/>
          <p:cNvSpPr/>
          <p:nvPr/>
        </p:nvSpPr>
        <p:spPr>
          <a:xfrm>
            <a:off x="6583680" y="35844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Motion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402336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repeats identically at regular time intervals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Mathematical Description of SHM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13716"/>
          </a:xfrm>
          <a:prstGeom prst="rect">
            <a:avLst/>
          </a:prstGeom>
          <a:solidFill>
            <a:srgbClr val="C8CDD0"/>
          </a:solidFill>
        </p:spPr>
      </p:sp>
      <p:sp>
        <p:nvSpPr>
          <p:cNvPr id="5" name="Shape 3"/>
          <p:cNvSpPr/>
          <p:nvPr/>
        </p:nvSpPr>
        <p:spPr>
          <a:xfrm>
            <a:off x="640080" y="1143000"/>
            <a:ext cx="7863840" cy="685800"/>
          </a:xfrm>
          <a:prstGeom prst="rect">
            <a:avLst/>
          </a:prstGeom>
          <a:solidFill>
            <a:srgbClr val="0D1F33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x(t) = A cos(ωt + φ)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2468880" cy="14173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945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E86A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x(t) = A cos(ωt + φ)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as a function of 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2103120"/>
            <a:ext cx="2468880" cy="14173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21945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51460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E86A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v(t) = −Aω sin(ωt + φ)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97180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derivative of position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103120"/>
            <a:ext cx="2468880" cy="14173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21945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51460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E86A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a(t) = −Aω² cos(ωt + φ)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97180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time derivative; a = −ω²x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7863840" cy="502920"/>
          </a:xfrm>
          <a:prstGeom prst="rect">
            <a:avLst/>
          </a:prstGeom>
          <a:solidFill>
            <a:srgbClr val="EAE6DD"/>
          </a:solidFill>
        </p:spPr>
      </p:sp>
      <p:sp>
        <p:nvSpPr>
          <p:cNvPr id="20" name="Text 18"/>
          <p:cNvSpPr/>
          <p:nvPr/>
        </p:nvSpPr>
        <p:spPr>
          <a:xfrm>
            <a:off x="822960" y="379476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relationship:  a(t) = −ω² x(t)  →  The defining equation of SHM:  ẍ + ω²x = 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Key Parameters of SHM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13716"/>
          </a:xfrm>
          <a:prstGeom prst="rect">
            <a:avLst/>
          </a:prstGeom>
          <a:solidFill>
            <a:srgbClr val="C8CDD0"/>
          </a:solidFill>
        </p:spPr>
      </p:sp>
      <p:sp>
        <p:nvSpPr>
          <p:cNvPr id="5" name="Shape 3"/>
          <p:cNvSpPr/>
          <p:nvPr/>
        </p:nvSpPr>
        <p:spPr>
          <a:xfrm>
            <a:off x="640080" y="1097280"/>
            <a:ext cx="7863840" cy="7132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777240" y="1225296"/>
            <a:ext cx="457200" cy="45720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7" name="Text 5"/>
          <p:cNvSpPr/>
          <p:nvPr/>
        </p:nvSpPr>
        <p:spPr>
          <a:xfrm>
            <a:off x="777240" y="12252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44475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displacement from equilibrium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1887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1975104"/>
            <a:ext cx="457200" cy="45720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12" name="Text 10"/>
          <p:cNvSpPr/>
          <p:nvPr/>
        </p:nvSpPr>
        <p:spPr>
          <a:xfrm>
            <a:off x="777240" y="197510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189280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Frequency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19456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phase change; ω = 2π</a:t>
            </a:r>
            <a:r>
              <a:rPr lang="en-US" sz="11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i="1" dirty="0">
              <a:solidFill>
                <a:srgbClr val="5A60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0" y="1938528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rad/s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596896"/>
            <a:ext cx="7863840" cy="7132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777240" y="2724912"/>
            <a:ext cx="457200" cy="45720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18" name="Text 16"/>
          <p:cNvSpPr/>
          <p:nvPr/>
        </p:nvSpPr>
        <p:spPr>
          <a:xfrm>
            <a:off x="777240" y="27249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264261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29443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for one complete oscillation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688336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23" name="Text 21"/>
          <p:cNvSpPr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3392424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 23"/>
              <p:cNvSpPr/>
              <p:nvPr/>
            </p:nvSpPr>
            <p:spPr>
              <a:xfrm>
                <a:off x="1417320" y="3694176"/>
                <a:ext cx="3200400" cy="2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5A607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Number of oscillations per second; </a:t>
                </a:r>
                <a:r>
                  <a:rPr lang="en-US" sz="1100" i="1" dirty="0">
                    <a:solidFill>
                      <a:srgbClr val="5A607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</a:t>
                </a:r>
                <a:r>
                  <a:rPr lang="en-US" sz="1100" dirty="0">
                    <a:solidFill>
                      <a:srgbClr val="5A607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i="1" dirty="0">
                            <a:solidFill>
                              <a:srgbClr val="5A6070"/>
                            </a:solidFill>
                            <a:latin typeface="DejaVu Math TeX Gyre" panose="02000503000000000000" charset="0"/>
                            <a:ea typeface="Calibri" pitchFamily="34" charset="-122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sz="1100" i="1" dirty="0">
                            <a:solidFill>
                              <a:srgbClr val="5A6070"/>
                            </a:solidFill>
                            <a:latin typeface="DejaVu Math TeX Gyre" panose="02000503000000000000" charset="0"/>
                            <a:ea typeface="Calibri" pitchFamily="34" charset="-122"/>
                            <a:cs typeface="DejaVu Math TeX Gyre" panose="02000503000000000000" charset="0"/>
                          </a:rPr>
                          <m:t>1</m:t>
                        </m:r>
                      </m:num>
                      <m:den>
                        <m:r>
                          <a:rPr lang="en-US" sz="1100" i="1" dirty="0">
                            <a:solidFill>
                              <a:srgbClr val="5A6070"/>
                            </a:solidFill>
                            <a:latin typeface="DejaVu Math TeX Gyre" panose="02000503000000000000" charset="0"/>
                            <a:ea typeface="Calibri" pitchFamily="34" charset="-122"/>
                            <a:cs typeface="DejaVu Math TeX Gyre" panose="02000503000000000000" charset="0"/>
                          </a:rPr>
                          <m:t>𝑇</m:t>
                        </m:r>
                      </m:den>
                    </m:f>
                  </m:oMath>
                </a14:m>
                <a:endParaRPr lang="en-US" sz="1100" dirty="0"/>
              </a:p>
            </p:txBody>
          </p:sp>
        </mc:Choice>
        <mc:Fallback>
          <p:sp>
            <p:nvSpPr>
              <p:cNvPr id="25" name="Text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320" y="3694176"/>
                <a:ext cx="3200400" cy="292608"/>
              </a:xfrm>
              <a:prstGeom prst="rect">
                <a:avLst/>
              </a:prstGeom>
              <a:blipFill rotWithShape="1">
                <a:blip r:embed="rId1"/>
                <a:stretch>
                  <a:fillRect t="-130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24"/>
          <p:cNvSpPr/>
          <p:nvPr/>
        </p:nvSpPr>
        <p:spPr>
          <a:xfrm>
            <a:off x="6858000" y="3438144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096512"/>
            <a:ext cx="7863840" cy="7132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Shape 26"/>
          <p:cNvSpPr/>
          <p:nvPr/>
        </p:nvSpPr>
        <p:spPr>
          <a:xfrm>
            <a:off x="777240" y="4224528"/>
            <a:ext cx="457200" cy="45720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29" name="Text 27"/>
          <p:cNvSpPr/>
          <p:nvPr/>
        </p:nvSpPr>
        <p:spPr>
          <a:xfrm>
            <a:off x="777240" y="4224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17320" y="414223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Constant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17320" y="444398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phase at t = 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4187952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31520" y="2514600"/>
            <a:ext cx="1097280" cy="36576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Mass-Spring System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Mass-Spring System: Hooke's Law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13716"/>
          </a:xfrm>
          <a:prstGeom prst="rect">
            <a:avLst/>
          </a:prstGeom>
          <a:solidFill>
            <a:srgbClr val="C8CDD0"/>
          </a:solidFill>
        </p:spPr>
      </p:sp>
      <p:sp>
        <p:nvSpPr>
          <p:cNvPr id="5" name="Shape 3"/>
          <p:cNvSpPr/>
          <p:nvPr/>
        </p:nvSpPr>
        <p:spPr>
          <a:xfrm>
            <a:off x="640080" y="1188720"/>
            <a:ext cx="365760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560320"/>
            <a:ext cx="228600" cy="1645920"/>
          </a:xfrm>
          <a:prstGeom prst="rect">
            <a:avLst/>
          </a:prstGeom>
          <a:solidFill>
            <a:srgbClr val="5A6070"/>
          </a:solidFill>
        </p:spPr>
      </p:sp>
      <p:sp>
        <p:nvSpPr>
          <p:cNvPr id="7" name="Shape 5"/>
          <p:cNvSpPr/>
          <p:nvPr/>
        </p:nvSpPr>
        <p:spPr>
          <a:xfrm>
            <a:off x="1234440" y="3017520"/>
            <a:ext cx="2743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3474720"/>
            <a:ext cx="2743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3017520"/>
            <a:ext cx="2743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3474720"/>
            <a:ext cx="2743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3017520"/>
            <a:ext cx="2743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474720"/>
            <a:ext cx="2743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3017520"/>
            <a:ext cx="2743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2834640"/>
            <a:ext cx="640080" cy="64008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5" name="Text 13"/>
          <p:cNvSpPr/>
          <p:nvPr/>
        </p:nvSpPr>
        <p:spPr>
          <a:xfrm>
            <a:off x="3108960" y="2834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29000" y="1828800"/>
            <a:ext cx="0" cy="2743200"/>
          </a:xfrm>
          <a:prstGeom prst="line">
            <a:avLst/>
          </a:prstGeom>
          <a:noFill/>
          <a:ln w="6350">
            <a:solidFill>
              <a:srgbClr val="C8CDD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429000" y="15544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154680" y="3474720"/>
            <a:ext cx="457200" cy="0"/>
          </a:xfrm>
          <a:prstGeom prst="line">
            <a:avLst/>
          </a:prstGeom>
          <a:noFill/>
          <a:ln w="19050">
            <a:solidFill>
              <a:srgbClr val="D4A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33832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56665" y="3017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(spring constant)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23444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Hooke's Law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1645920"/>
            <a:ext cx="3657600" cy="283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restoring force exerted by a spring is proportional to its extension or compression: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2200" b="1" i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 = −k x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= restoring force (N)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 = spring constant (N/m)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= displacement from equilibrium (m)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sign indicates the force opposes the displacement — a hallmark of SHM.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Mass-Spring System: Equation of Motion &amp; Period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86790"/>
            <a:ext cx="7863840" cy="13716"/>
          </a:xfrm>
          <a:prstGeom prst="rect">
            <a:avLst/>
          </a:prstGeom>
          <a:solidFill>
            <a:srgbClr val="C8CDD0"/>
          </a:solidFill>
        </p:spPr>
      </p:sp>
      <p:sp>
        <p:nvSpPr>
          <p:cNvPr id="5" name="Shape 3"/>
          <p:cNvSpPr/>
          <p:nvPr/>
        </p:nvSpPr>
        <p:spPr>
          <a:xfrm>
            <a:off x="640080" y="1143000"/>
            <a:ext cx="3840480" cy="3657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23444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Derivation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47472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2nd Law:  F = m a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Hooke's Law:  F = −k x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Therefore:  m a = −k x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 a = ẍ (second derivative):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ẍ + k x = 0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ẍ + (k/m) x = 0  ← SHM form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with  ẍ + ω²x = 0: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ω² = k/m  →  ω = √(k/m)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657600" cy="914400"/>
          </a:xfrm>
          <a:prstGeom prst="rect">
            <a:avLst/>
          </a:prstGeom>
          <a:solidFill>
            <a:srgbClr val="0D1F33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18872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of Mass-Spring System</a:t>
            </a:r>
            <a:endParaRPr lang="en-US" sz="1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 = 2π √(m/k)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 = 1/f  =  2π/ω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286000"/>
            <a:ext cx="3657600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233172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Frequency</a:t>
            </a:r>
            <a:endParaRPr lang="en-US" sz="1200" dirty="0"/>
          </a:p>
          <a:p>
            <a:pPr marL="0" indent="0">
              <a:buNone/>
            </a:pPr>
            <a:r>
              <a:rPr lang="en-US" sz="2000" i="1" dirty="0">
                <a:solidFill>
                  <a:srgbClr val="2E86A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ω = √(k/m)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3246120"/>
            <a:ext cx="3657600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329184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200" dirty="0"/>
          </a:p>
          <a:p>
            <a:pPr marL="0" indent="0">
              <a:buNone/>
            </a:pPr>
            <a:r>
              <a:rPr lang="en-US" sz="1800" i="1" dirty="0">
                <a:solidFill>
                  <a:srgbClr val="2E86A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 = (1/2π) √(k/m)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4160520"/>
            <a:ext cx="3657600" cy="640080"/>
          </a:xfrm>
          <a:prstGeom prst="rect">
            <a:avLst/>
          </a:prstGeom>
          <a:solidFill>
            <a:srgbClr val="EAE6DD"/>
          </a:solidFill>
        </p:spPr>
      </p:sp>
      <p:sp>
        <p:nvSpPr>
          <p:cNvPr id="15" name="Text 13"/>
          <p:cNvSpPr/>
          <p:nvPr/>
        </p:nvSpPr>
        <p:spPr>
          <a:xfrm>
            <a:off x="4983480" y="4160520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depends only on mass m and spring constant k — not on amplitude!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31520" y="2514600"/>
            <a:ext cx="1097280" cy="36576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Simple Pendulum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Simple Pendulum: Setup &amp; Small Angle Approximation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13716"/>
          </a:xfrm>
          <a:prstGeom prst="rect">
            <a:avLst/>
          </a:prstGeom>
          <a:solidFill>
            <a:srgbClr val="C8CDD0"/>
          </a:solidFill>
        </p:spPr>
      </p:sp>
      <p:sp>
        <p:nvSpPr>
          <p:cNvPr id="5" name="Shape 3"/>
          <p:cNvSpPr/>
          <p:nvPr/>
        </p:nvSpPr>
        <p:spPr>
          <a:xfrm>
            <a:off x="640080" y="1188720"/>
            <a:ext cx="3474720" cy="3657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03120" y="1371600"/>
            <a:ext cx="137160" cy="137160"/>
          </a:xfrm>
          <a:prstGeom prst="ellipse">
            <a:avLst/>
          </a:prstGeom>
          <a:solidFill>
            <a:srgbClr val="5A6070"/>
          </a:solidFill>
        </p:spPr>
      </p:sp>
      <p:sp>
        <p:nvSpPr>
          <p:cNvPr id="7" name="Shape 5"/>
          <p:cNvSpPr/>
          <p:nvPr/>
        </p:nvSpPr>
        <p:spPr>
          <a:xfrm>
            <a:off x="2167128" y="1435608"/>
            <a:ext cx="548640" cy="182880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3108960"/>
            <a:ext cx="502920" cy="50292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9" name="Text 7"/>
          <p:cNvSpPr/>
          <p:nvPr/>
        </p:nvSpPr>
        <p:spPr>
          <a:xfrm>
            <a:off x="2423160" y="31089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67128" y="1435608"/>
            <a:ext cx="0" cy="2286000"/>
          </a:xfrm>
          <a:prstGeom prst="line">
            <a:avLst/>
          </a:prstGeom>
          <a:noFill/>
          <a:ln w="6350">
            <a:solidFill>
              <a:srgbClr val="C8CDD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165985" y="166243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2860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07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34747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1E2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2344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Restoring Force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1645920"/>
            <a:ext cx="393192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restoring force for a pendulum is the tangential component of gravity: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2000" b="1" i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F_t = −mg sin θ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Not SHM without the small-angle approximation (sin θ ≈ θ).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520440"/>
            <a:ext cx="3931920" cy="1325880"/>
          </a:xfrm>
          <a:prstGeom prst="rect">
            <a:avLst/>
          </a:prstGeom>
          <a:solidFill>
            <a:srgbClr val="0D1F33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3566160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Small Angle Approximation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 θ (θ &lt; ≈15°):</a:t>
            </a:r>
            <a:endParaRPr lang="en-US" sz="1400" dirty="0"/>
          </a:p>
          <a:p>
            <a:pPr marL="0" indent="0">
              <a:buNone/>
            </a:pPr>
            <a:r>
              <a:rPr lang="en-US" sz="1600" i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sin θ ≈ θ  (in radians)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F_t ≈ −mg θ  →  Linear restoring force → SHM!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Simple Pendulum: Equation of Motion &amp; Period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13716"/>
          </a:xfrm>
          <a:prstGeom prst="rect">
            <a:avLst/>
          </a:prstGeom>
          <a:solidFill>
            <a:srgbClr val="C8CDD0"/>
          </a:solidFill>
        </p:spPr>
      </p:sp>
      <p:sp>
        <p:nvSpPr>
          <p:cNvPr id="5" name="Shape 3"/>
          <p:cNvSpPr/>
          <p:nvPr/>
        </p:nvSpPr>
        <p:spPr>
          <a:xfrm>
            <a:off x="640080" y="1143000"/>
            <a:ext cx="4389120" cy="3657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23444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Derivation (Small Angle)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402336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length:  s = L θ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Tangential acceleration:  a_t = L θ̈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2nd Law (tangential):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L θ̈ = −mg sin θ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angle: sin θ ≈ θ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L θ̈ = −mg θ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θ̈ + (g/L) θ = 0  ← SHM form!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 θ̈ + ω²θ = 0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ω² = g/L  →  ω = √(g/L)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94960" y="1143000"/>
            <a:ext cx="3200400" cy="1097280"/>
          </a:xfrm>
          <a:prstGeom prst="rect">
            <a:avLst/>
          </a:prstGeom>
          <a:solidFill>
            <a:srgbClr val="0D1F33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32120" y="118872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of Simple Pendulum</a:t>
            </a:r>
            <a:endParaRPr lang="en-US" sz="1200" dirty="0"/>
          </a:p>
          <a:p>
            <a:pPr marL="0" indent="0">
              <a:buNone/>
            </a:pPr>
            <a:r>
              <a:rPr lang="en-US" sz="2400" i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 = 2π √(L/g)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mass and (for small angles) amplitude!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2468880"/>
            <a:ext cx="3200400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32120" y="25146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Frequency</a:t>
            </a:r>
            <a:endParaRPr lang="en-US" sz="1200" dirty="0"/>
          </a:p>
          <a:p>
            <a:pPr marL="0" indent="0">
              <a:buNone/>
            </a:pPr>
            <a:r>
              <a:rPr lang="en-US" sz="2000" i="1" dirty="0">
                <a:solidFill>
                  <a:srgbClr val="2E86A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ω = √(g/L)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3429000"/>
            <a:ext cx="3200400" cy="1371600"/>
          </a:xfrm>
          <a:prstGeom prst="rect">
            <a:avLst/>
          </a:prstGeom>
          <a:solidFill>
            <a:srgbClr val="EAE6DD"/>
          </a:solidFill>
        </p:spPr>
      </p:sp>
      <p:sp>
        <p:nvSpPr>
          <p:cNvPr id="13" name="Text 11"/>
          <p:cNvSpPr/>
          <p:nvPr/>
        </p:nvSpPr>
        <p:spPr>
          <a:xfrm>
            <a:off x="5532120" y="3474720"/>
            <a:ext cx="29260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Galileo's Discovery: Isochronism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Period is independent of mass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Period is independent of amplitude (for small θ)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Period depends only on L and g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Basis for pendulum clocks since Huygens (1656)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Energy in Simple Harmonic Motion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13716"/>
          </a:xfrm>
          <a:prstGeom prst="rect">
            <a:avLst/>
          </a:prstGeom>
          <a:solidFill>
            <a:srgbClr val="C8CDD0"/>
          </a:solidFill>
        </p:spPr>
      </p:sp>
      <p:sp>
        <p:nvSpPr>
          <p:cNvPr id="5" name="Shape 3"/>
          <p:cNvSpPr/>
          <p:nvPr/>
        </p:nvSpPr>
        <p:spPr>
          <a:xfrm>
            <a:off x="640080" y="1143000"/>
            <a:ext cx="2468880" cy="2377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43000"/>
            <a:ext cx="2468880" cy="54864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7" name="Text 5"/>
          <p:cNvSpPr/>
          <p:nvPr/>
        </p:nvSpPr>
        <p:spPr>
          <a:xfrm>
            <a:off x="777240" y="12801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Kinetic Energy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E86A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KE = ½ m v²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07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KE = ½ k (A² − x²)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2377440"/>
            <a:ext cx="1737360" cy="9144"/>
          </a:xfrm>
          <a:prstGeom prst="rect">
            <a:avLst/>
          </a:prstGeom>
          <a:solidFill>
            <a:srgbClr val="C8CDD0"/>
          </a:solidFill>
        </p:spPr>
      </p:sp>
      <p:sp>
        <p:nvSpPr>
          <p:cNvPr id="11" name="Text 9"/>
          <p:cNvSpPr/>
          <p:nvPr/>
        </p:nvSpPr>
        <p:spPr>
          <a:xfrm>
            <a:off x="777240" y="246888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at equilibrium (x = 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at extreme positions (x = ±A)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143000"/>
            <a:ext cx="2468880" cy="2377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143000"/>
            <a:ext cx="2468880" cy="54864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14" name="Text 12"/>
          <p:cNvSpPr/>
          <p:nvPr/>
        </p:nvSpPr>
        <p:spPr>
          <a:xfrm>
            <a:off x="3520440" y="12801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Potential Energy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1600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PE = ½ k x²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19659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07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PE = ½ k A² cos²(ωt + φ)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2377440"/>
            <a:ext cx="1737360" cy="9144"/>
          </a:xfrm>
          <a:prstGeom prst="rect">
            <a:avLst/>
          </a:prstGeom>
          <a:solidFill>
            <a:srgbClr val="C8CDD0"/>
          </a:solidFill>
        </p:spPr>
      </p:sp>
      <p:sp>
        <p:nvSpPr>
          <p:cNvPr id="18" name="Text 16"/>
          <p:cNvSpPr/>
          <p:nvPr/>
        </p:nvSpPr>
        <p:spPr>
          <a:xfrm>
            <a:off x="3520440" y="246888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at equilibrium (x = 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at extreme positions (x = ±A)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143000"/>
            <a:ext cx="2468880" cy="2377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43000"/>
            <a:ext cx="2468880" cy="54864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21" name="Text 19"/>
          <p:cNvSpPr/>
          <p:nvPr/>
        </p:nvSpPr>
        <p:spPr>
          <a:xfrm>
            <a:off x="6263640" y="12801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Total Mechanical Energy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1600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3A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 = KE + 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19659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07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 = ½ k A²  (constant!)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2377440"/>
            <a:ext cx="1737360" cy="9144"/>
          </a:xfrm>
          <a:prstGeom prst="rect">
            <a:avLst/>
          </a:prstGeom>
          <a:solidFill>
            <a:srgbClr val="C8CDD0"/>
          </a:solidFill>
        </p:spPr>
      </p:sp>
      <p:sp>
        <p:nvSpPr>
          <p:cNvPr id="25" name="Text 23"/>
          <p:cNvSpPr/>
          <p:nvPr/>
        </p:nvSpPr>
        <p:spPr>
          <a:xfrm>
            <a:off x="6263640" y="246888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Conserved in ideal SHM (no damping)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time — energy sloshes between KE and PE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7490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Distribution During Oscillation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114800"/>
            <a:ext cx="274320" cy="914400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28" name="Shape 26"/>
          <p:cNvSpPr/>
          <p:nvPr/>
        </p:nvSpPr>
        <p:spPr>
          <a:xfrm>
            <a:off x="640080" y="4114800"/>
            <a:ext cx="274320" cy="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29" name="Text 27"/>
          <p:cNvSpPr/>
          <p:nvPr/>
        </p:nvSpPr>
        <p:spPr>
          <a:xfrm>
            <a:off x="365760" y="5047488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+A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67712" y="4800600"/>
            <a:ext cx="274320" cy="228600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1" name="Shape 29"/>
          <p:cNvSpPr/>
          <p:nvPr/>
        </p:nvSpPr>
        <p:spPr>
          <a:xfrm>
            <a:off x="2267712" y="4114800"/>
            <a:ext cx="274320" cy="6858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32" name="Text 30"/>
          <p:cNvSpPr/>
          <p:nvPr/>
        </p:nvSpPr>
        <p:spPr>
          <a:xfrm>
            <a:off x="1993392" y="5047488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+A/2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895344" y="5029200"/>
            <a:ext cx="274320" cy="0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4" name="Shape 32"/>
          <p:cNvSpPr/>
          <p:nvPr/>
        </p:nvSpPr>
        <p:spPr>
          <a:xfrm>
            <a:off x="3895344" y="4114800"/>
            <a:ext cx="274320" cy="9144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35" name="Text 33"/>
          <p:cNvSpPr/>
          <p:nvPr/>
        </p:nvSpPr>
        <p:spPr>
          <a:xfrm>
            <a:off x="3621024" y="5047488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522976" y="4800600"/>
            <a:ext cx="274320" cy="228600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7" name="Shape 35"/>
          <p:cNvSpPr/>
          <p:nvPr/>
        </p:nvSpPr>
        <p:spPr>
          <a:xfrm>
            <a:off x="5522976" y="4114800"/>
            <a:ext cx="274320" cy="6858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38" name="Text 36"/>
          <p:cNvSpPr/>
          <p:nvPr/>
        </p:nvSpPr>
        <p:spPr>
          <a:xfrm>
            <a:off x="5248656" y="5047488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−A/2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150608" y="4114800"/>
            <a:ext cx="274320" cy="914400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40" name="Shape 38"/>
          <p:cNvSpPr/>
          <p:nvPr/>
        </p:nvSpPr>
        <p:spPr>
          <a:xfrm>
            <a:off x="7150608" y="4114800"/>
            <a:ext cx="274320" cy="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41" name="Text 39"/>
          <p:cNvSpPr/>
          <p:nvPr/>
        </p:nvSpPr>
        <p:spPr>
          <a:xfrm>
            <a:off x="6876288" y="5047488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−A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86000" y="4114800"/>
            <a:ext cx="137160" cy="109728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43" name="Text 41"/>
          <p:cNvSpPr/>
          <p:nvPr/>
        </p:nvSpPr>
        <p:spPr>
          <a:xfrm>
            <a:off x="2468880" y="4087368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926080" y="4114800"/>
            <a:ext cx="137160" cy="109728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45" name="Text 43"/>
          <p:cNvSpPr/>
          <p:nvPr/>
        </p:nvSpPr>
        <p:spPr>
          <a:xfrm>
            <a:off x="3108960" y="4087368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Mass-Spring vs. Simple Pendulum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862965"/>
            <a:ext cx="7498080" cy="475488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6" name="Text 4"/>
          <p:cNvSpPr/>
          <p:nvPr/>
        </p:nvSpPr>
        <p:spPr>
          <a:xfrm>
            <a:off x="640080" y="862965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862965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Mass-Spring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4960" y="862965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Pendulum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338453"/>
            <a:ext cx="7498080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640080" y="1338453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Force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1338453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−k 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1338453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F_t = −mg sin θ ≈ −(mg/L) 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1813941"/>
            <a:ext cx="7498080" cy="475488"/>
          </a:xfrm>
          <a:prstGeom prst="rect">
            <a:avLst/>
          </a:prstGeom>
          <a:solidFill>
            <a:srgbClr val="EEEAE1"/>
          </a:solidFill>
        </p:spPr>
      </p:sp>
      <p:sp>
        <p:nvSpPr>
          <p:cNvPr id="14" name="Text 12"/>
          <p:cNvSpPr/>
          <p:nvPr/>
        </p:nvSpPr>
        <p:spPr>
          <a:xfrm>
            <a:off x="640080" y="1813941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 Condition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1813941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(ideal spring)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1813941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angle: sin θ ≈ 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289429"/>
            <a:ext cx="7498080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640080" y="2289429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of Motion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2289429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ẍ + (k/m) x = 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2289429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θ̈ + (g/L) θ = 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764917"/>
            <a:ext cx="7498080" cy="475488"/>
          </a:xfrm>
          <a:prstGeom prst="rect">
            <a:avLst/>
          </a:prstGeom>
          <a:solidFill>
            <a:srgbClr val="EEEAE1"/>
          </a:solidFill>
        </p:spPr>
      </p:sp>
      <p:sp>
        <p:nvSpPr>
          <p:cNvPr id="22" name="Text 20"/>
          <p:cNvSpPr/>
          <p:nvPr/>
        </p:nvSpPr>
        <p:spPr>
          <a:xfrm>
            <a:off x="640080" y="2764917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Frequency 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2764917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A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√(k/m)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2764917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A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√(g/L)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240405"/>
            <a:ext cx="7498080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640080" y="3240405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51760" y="3240405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A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2π √(m/k)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3240405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A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2π √(L/g)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715893"/>
            <a:ext cx="7498080" cy="475488"/>
          </a:xfrm>
          <a:prstGeom prst="rect">
            <a:avLst/>
          </a:prstGeom>
          <a:solidFill>
            <a:srgbClr val="EEEAE1"/>
          </a:solidFill>
        </p:spPr>
      </p:sp>
      <p:sp>
        <p:nvSpPr>
          <p:cNvPr id="30" name="Text 28"/>
          <p:cNvSpPr/>
          <p:nvPr/>
        </p:nvSpPr>
        <p:spPr>
          <a:xfrm>
            <a:off x="640080" y="3715893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Mass?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51760" y="3715893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A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Yes (T ∝ √m)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3715893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(T independent of m)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191381"/>
            <a:ext cx="7498080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640080" y="4191381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g?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51760" y="4191381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(horizontal spring)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4191381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A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Yes (T ∝ 1/√g)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4666869"/>
            <a:ext cx="7498080" cy="475488"/>
          </a:xfrm>
          <a:prstGeom prst="rect">
            <a:avLst/>
          </a:prstGeom>
          <a:solidFill>
            <a:srgbClr val="EEEAE1"/>
          </a:solidFill>
        </p:spPr>
      </p:sp>
      <p:sp>
        <p:nvSpPr>
          <p:cNvPr id="38" name="Text 36"/>
          <p:cNvSpPr/>
          <p:nvPr/>
        </p:nvSpPr>
        <p:spPr>
          <a:xfrm>
            <a:off x="640080" y="4666869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51760" y="4666869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PE in spring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4666869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Gravitational PE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Applications of Simple Harmonic Motion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13716"/>
          </a:xfrm>
          <a:prstGeom prst="rect">
            <a:avLst/>
          </a:prstGeom>
          <a:solidFill>
            <a:srgbClr val="C8CDD0"/>
          </a:solidFill>
        </p:spPr>
      </p:sp>
      <p:sp>
        <p:nvSpPr>
          <p:cNvPr id="5" name="Shape 3"/>
          <p:cNvSpPr/>
          <p:nvPr/>
        </p:nvSpPr>
        <p:spPr>
          <a:xfrm>
            <a:off x="640080" y="1143000"/>
            <a:ext cx="246888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43000"/>
            <a:ext cx="54864" cy="1600200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7" name="Text 5"/>
          <p:cNvSpPr/>
          <p:nvPr/>
        </p:nvSpPr>
        <p:spPr>
          <a:xfrm>
            <a:off x="822960" y="12344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Pendulum Clocks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Christiaan Huygens (1656) — isochronism of the pendulum enables accurate timekeeping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143000"/>
            <a:ext cx="246888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143000"/>
            <a:ext cx="54864" cy="16002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1" name="Text 9"/>
          <p:cNvSpPr/>
          <p:nvPr/>
        </p:nvSpPr>
        <p:spPr>
          <a:xfrm>
            <a:off x="3566160" y="12344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Seismic Sensors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6459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Mass-spring systems in seismometers detect ground motion during earthquakes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46888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43000"/>
            <a:ext cx="54864" cy="1600200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15" name="Text 13"/>
          <p:cNvSpPr/>
          <p:nvPr/>
        </p:nvSpPr>
        <p:spPr>
          <a:xfrm>
            <a:off x="6309360" y="12344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Musical Instruments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6459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(guitar, violin) and air columns (organ pipes) vibrate as SHM at resonant frequencies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971800"/>
            <a:ext cx="246888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971800"/>
            <a:ext cx="54864" cy="16002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9" name="Text 17"/>
          <p:cNvSpPr/>
          <p:nvPr/>
        </p:nvSpPr>
        <p:spPr>
          <a:xfrm>
            <a:off x="822960" y="30632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Quartz Crystal Oscillators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4747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quartz crystals oscillate in SHM — the heartbeat of every digital clock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83280" y="2971800"/>
            <a:ext cx="246888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2971800"/>
            <a:ext cx="54864" cy="1600200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23" name="Text 21"/>
          <p:cNvSpPr/>
          <p:nvPr/>
        </p:nvSpPr>
        <p:spPr>
          <a:xfrm>
            <a:off x="3566160" y="30632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Vehicle Suspension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34747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Spring-damper systems use SHM principles to absorb road bumps and maintain ride comfort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246888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971800"/>
            <a:ext cx="54864" cy="16002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27" name="Text 25"/>
          <p:cNvSpPr/>
          <p:nvPr/>
        </p:nvSpPr>
        <p:spPr>
          <a:xfrm>
            <a:off x="6309360" y="30632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Atomic Force Microscopy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4747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Cantilever oscillations in AFM follow SHM, enabling nanoscale surface imaging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Key Formulas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097280" cy="27432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4" name="Shape 2"/>
          <p:cNvSpPr/>
          <p:nvPr/>
        </p:nvSpPr>
        <p:spPr>
          <a:xfrm>
            <a:off x="731520" y="1097280"/>
            <a:ext cx="3840480" cy="658368"/>
          </a:xfrm>
          <a:prstGeom prst="rect">
            <a:avLst/>
          </a:prstGeom>
          <a:solidFill>
            <a:srgbClr val="0D1F33"/>
          </a:solidFill>
        </p:spPr>
      </p:sp>
      <p:sp>
        <p:nvSpPr>
          <p:cNvPr id="5" name="Text 3"/>
          <p:cNvSpPr/>
          <p:nvPr/>
        </p:nvSpPr>
        <p:spPr>
          <a:xfrm>
            <a:off x="868680" y="114300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SHM Displacement</a:t>
            </a:r>
            <a:endParaRPr lang="en-US" sz="10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x(t) = A cos(ωt + φ)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658368"/>
          </a:xfrm>
          <a:prstGeom prst="rect">
            <a:avLst/>
          </a:prstGeom>
          <a:solidFill>
            <a:srgbClr val="0D1F33"/>
          </a:solidFill>
        </p:spPr>
      </p:sp>
      <p:sp>
        <p:nvSpPr>
          <p:cNvPr id="7" name="Text 5"/>
          <p:cNvSpPr/>
          <p:nvPr/>
        </p:nvSpPr>
        <p:spPr>
          <a:xfrm>
            <a:off x="4983480" y="114300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 Differential Equation</a:t>
            </a:r>
            <a:endParaRPr lang="en-US" sz="10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ẍ + ω² x =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847088"/>
            <a:ext cx="3840480" cy="658368"/>
          </a:xfrm>
          <a:prstGeom prst="rect">
            <a:avLst/>
          </a:prstGeom>
          <a:solidFill>
            <a:srgbClr val="0D1F33"/>
          </a:solidFill>
        </p:spPr>
      </p:sp>
      <p:sp>
        <p:nvSpPr>
          <p:cNvPr id="9" name="Text 7"/>
          <p:cNvSpPr/>
          <p:nvPr/>
        </p:nvSpPr>
        <p:spPr>
          <a:xfrm>
            <a:off x="868680" y="1892808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(General)</a:t>
            </a:r>
            <a:endParaRPr lang="en-US" sz="10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 = 2π/ω = 1/f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847088"/>
            <a:ext cx="3840480" cy="658368"/>
          </a:xfrm>
          <a:prstGeom prst="rect">
            <a:avLst/>
          </a:prstGeom>
          <a:solidFill>
            <a:srgbClr val="0D1F33"/>
          </a:solidFill>
        </p:spPr>
      </p:sp>
      <p:sp>
        <p:nvSpPr>
          <p:cNvPr id="11" name="Text 9"/>
          <p:cNvSpPr/>
          <p:nvPr/>
        </p:nvSpPr>
        <p:spPr>
          <a:xfrm>
            <a:off x="4983480" y="1892808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Mass-Spring ω</a:t>
            </a:r>
            <a:endParaRPr lang="en-US" sz="10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ω = √(k/m)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596896"/>
            <a:ext cx="3840480" cy="658368"/>
          </a:xfrm>
          <a:prstGeom prst="rect">
            <a:avLst/>
          </a:prstGeom>
          <a:solidFill>
            <a:srgbClr val="0D1F33"/>
          </a:solidFill>
        </p:spPr>
      </p:sp>
      <p:sp>
        <p:nvSpPr>
          <p:cNvPr id="13" name="Text 11"/>
          <p:cNvSpPr/>
          <p:nvPr/>
        </p:nvSpPr>
        <p:spPr>
          <a:xfrm>
            <a:off x="868680" y="264261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Mass-Spring Period</a:t>
            </a:r>
            <a:endParaRPr lang="en-US" sz="10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 = 2π √(m/k)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596896"/>
            <a:ext cx="3840480" cy="658368"/>
          </a:xfrm>
          <a:prstGeom prst="rect">
            <a:avLst/>
          </a:prstGeom>
          <a:solidFill>
            <a:srgbClr val="0D1F33"/>
          </a:solidFill>
        </p:spPr>
      </p:sp>
      <p:sp>
        <p:nvSpPr>
          <p:cNvPr id="15" name="Text 13"/>
          <p:cNvSpPr/>
          <p:nvPr/>
        </p:nvSpPr>
        <p:spPr>
          <a:xfrm>
            <a:off x="4983480" y="264261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Pendulum ω</a:t>
            </a:r>
            <a:endParaRPr lang="en-US" sz="10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ω = √(g/L)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346704"/>
            <a:ext cx="3840480" cy="658368"/>
          </a:xfrm>
          <a:prstGeom prst="rect">
            <a:avLst/>
          </a:prstGeom>
          <a:solidFill>
            <a:srgbClr val="0D1F33"/>
          </a:solidFill>
        </p:spPr>
      </p:sp>
      <p:sp>
        <p:nvSpPr>
          <p:cNvPr id="17" name="Text 15"/>
          <p:cNvSpPr/>
          <p:nvPr/>
        </p:nvSpPr>
        <p:spPr>
          <a:xfrm>
            <a:off x="868680" y="3392424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Pendulum Period</a:t>
            </a:r>
            <a:endParaRPr lang="en-US" sz="10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 = 2π √(L/g)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346704"/>
            <a:ext cx="3840480" cy="658368"/>
          </a:xfrm>
          <a:prstGeom prst="rect">
            <a:avLst/>
          </a:prstGeom>
          <a:solidFill>
            <a:srgbClr val="0D1F33"/>
          </a:solidFill>
        </p:spPr>
      </p:sp>
      <p:sp>
        <p:nvSpPr>
          <p:cNvPr id="19" name="Text 17"/>
          <p:cNvSpPr/>
          <p:nvPr/>
        </p:nvSpPr>
        <p:spPr>
          <a:xfrm>
            <a:off x="4983480" y="3392424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</a:t>
            </a:r>
            <a:endParaRPr lang="en-US" sz="10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 = ½ k A² = ½ m ω² A²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096512"/>
            <a:ext cx="3840480" cy="658368"/>
          </a:xfrm>
          <a:prstGeom prst="rect">
            <a:avLst/>
          </a:prstGeom>
          <a:solidFill>
            <a:srgbClr val="0D1F33"/>
          </a:solidFill>
        </p:spPr>
      </p:sp>
      <p:sp>
        <p:nvSpPr>
          <p:cNvPr id="21" name="Text 19"/>
          <p:cNvSpPr/>
          <p:nvPr/>
        </p:nvSpPr>
        <p:spPr>
          <a:xfrm>
            <a:off x="868680" y="4142232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0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v(t) = −Aω sin(ωt + φ)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4096512"/>
            <a:ext cx="3840480" cy="658368"/>
          </a:xfrm>
          <a:prstGeom prst="rect">
            <a:avLst/>
          </a:prstGeom>
          <a:solidFill>
            <a:srgbClr val="0D1F33"/>
          </a:solidFill>
        </p:spPr>
      </p:sp>
      <p:sp>
        <p:nvSpPr>
          <p:cNvPr id="23" name="Text 21"/>
          <p:cNvSpPr/>
          <p:nvPr/>
        </p:nvSpPr>
        <p:spPr>
          <a:xfrm>
            <a:off x="4983480" y="4142232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0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a(t) = −Aω² cos(ωt + φ) = −ω² x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54864" cy="2286000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1188720" y="91440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88720" y="1737360"/>
            <a:ext cx="713232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Harmonic Motion is the foundation of oscillatory physics —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mechanical vibrations to electromagnetic waves.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Mass-Spring System: F = −kx  →  T = 2π√(m/k)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Pendulum: T = 2π√(L/g)  (small angle)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systems share the same underlying mathematics —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differential equation  ẍ + ω²x = 0  unifies them all.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43891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6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5103</Words>
  <Application>WPS 文字</Application>
  <PresentationFormat>On-screen Show (16:9)</PresentationFormat>
  <Paragraphs>377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8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Helvetica Neue</vt:lpstr>
      <vt:lpstr>Calibri</vt:lpstr>
      <vt:lpstr>Calibri</vt:lpstr>
      <vt:lpstr>微软雅黑</vt:lpstr>
      <vt:lpstr>汉仪旗黑</vt:lpstr>
      <vt:lpstr>汉仪书宋二KW</vt:lpstr>
      <vt:lpstr>宋体</vt:lpstr>
      <vt:lpstr>Arial Unicode MS</vt:lpstr>
      <vt:lpstr>等线</vt:lpstr>
      <vt:lpstr>汉仪中等线KW</vt:lpstr>
      <vt:lpstr>MS PGothic</vt:lpstr>
      <vt:lpstr>苹方-简</vt:lpstr>
      <vt:lpstr>Academy Engraved LET</vt:lpstr>
      <vt:lpstr>Times New Roman</vt:lpstr>
      <vt:lpstr>DejaVu Math TeX Gyre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Harmonic Motion</dc:title>
  <dc:creator>Physics Lecture</dc:creator>
  <dc:subject>PptxGenJS Presentation</dc:subject>
  <cp:lastModifiedBy>WPS_1692324575</cp:lastModifiedBy>
  <cp:revision>3</cp:revision>
  <dcterms:created xsi:type="dcterms:W3CDTF">2026-05-29T10:37:46Z</dcterms:created>
  <dcterms:modified xsi:type="dcterms:W3CDTF">2026-05-29T10:37:46Z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0E3A2A17076F5A167AFF176A27CE3C87_42</vt:lpwstr>
  </property>
  <property fmtid="{D5CDD505-2E9C-101B-9397-08002B2CF9AE}" pid="3" name="KSOProductBuildVer">
    <vt:lpwstr>2052-12.1.25867.25867</vt:lpwstr>
  </property>
</Properties>
</file>